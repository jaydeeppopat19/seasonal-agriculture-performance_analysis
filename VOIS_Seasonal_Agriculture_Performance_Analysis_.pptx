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72290-7656-4600-9284-99341A5A54AD}" v="1" dt="2026-09-15T07:20:29.503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ydeeppopat19/Seasonal-Agriculture-Performance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622259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2000" b="1"/>
            </a:pPr>
            <a:r>
              <a:rPr dirty="0"/>
              <a:t>Jaydeep Popat</a:t>
            </a:r>
            <a:br>
              <a:rPr dirty="0"/>
            </a:br>
            <a:r>
              <a:rPr dirty="0"/>
              <a:t>V.V.P. Engineering College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613642"/>
            <a:ext cx="4998720" cy="743448"/>
          </a:xfrm>
        </p:spPr>
        <p:txBody>
          <a:bodyPr>
            <a:normAutofit fontScale="90000"/>
          </a:bodyPr>
          <a:lstStyle/>
          <a:p>
            <a:pPr>
              <a:defRPr sz="3000" b="1"/>
            </a:pPr>
            <a:r>
              <a:rPr dirty="0"/>
              <a:t>Seasonal Agriculture</a:t>
            </a:r>
            <a:br>
              <a:rPr dirty="0"/>
            </a:br>
            <a:r>
              <a:rPr dirty="0"/>
              <a:t>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94901" y="4677019"/>
            <a:ext cx="3176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 b="0"/>
            </a:pPr>
            <a:r>
              <a:rPr sz="1600" dirty="0"/>
              <a:t>AICTE STU ID : STU6a6645024b1081785087234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9B3C09-FD81-8378-DFC9-FFBC59829C75}"/>
              </a:ext>
            </a:extLst>
          </p:cNvPr>
          <p:cNvSpPr txBox="1"/>
          <p:nvPr/>
        </p:nvSpPr>
        <p:spPr>
          <a:xfrm>
            <a:off x="3778898" y="31164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defRPr sz="1800" b="0"/>
            </a:pPr>
            <a:r>
              <a:t>Indian agriculture follows three major seasonal cycles—Kharif (Monsoon), Rabi (Winter), and Zaid (Summer). This project investigates how seasonality affects yield, profitability and water efficiency using farm-level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191E"/>
                </a:solidFill>
              </a:defRPr>
            </a:pPr>
            <a: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60120" y="4709160"/>
            <a:ext cx="67208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0">
                <a:solidFill>
                  <a:srgbClr val="23282D"/>
                </a:solidFill>
              </a:defRPr>
            </a:pPr>
            <a:r>
              <a:t>Primary challenges: seasonal differences in water efficiency, crop viability and profit margins; climate volatility; irrigation resource misallocation; and concentration of severe losses in high-stress seasons.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191E"/>
                </a:solidFill>
              </a:defRPr>
            </a:pPr>
            <a: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1600200"/>
            <a:ext cx="324612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r>
              <a:t>1. Data Preparation</a:t>
            </a:r>
            <a:br/>
            <a:r>
              <a:t>Season-aware median imputation; duplicate check; outlier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600200"/>
            <a:ext cx="324612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r>
              <a:t>2. Feature Engineering</a:t>
            </a:r>
            <a:br/>
            <a:r>
              <a:t>Profit margin, cost per tonne, profitability flag and water efficiency.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324612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r>
              <a:t>3. Exploratory Analysis</a:t>
            </a:r>
            <a:br/>
            <a:r>
              <a:t>Season, climate, crop, irrigation and financial relationships.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246120"/>
            <a:ext cx="3246120" cy="14173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r>
              <a:t>4. Statistical Validation</a:t>
            </a:r>
            <a:br/>
            <a:r>
              <a:t>ANOVA, Chi-Square contingency and Pearson correlation.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64008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Outliers were retained as potential agricultural risk signals rather than automatically discarded.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191E"/>
                </a:solidFill>
              </a:defRPr>
            </a:pPr>
            <a:r>
              <a:rPr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4400" y="1691640"/>
            <a:ext cx="87782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181051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23282D"/>
                </a:solidFill>
              </a:defRPr>
            </a:pPr>
            <a:r>
              <a:t>Progressive Farmers &amp; FPOs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783080"/>
            <a:ext cx="553212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Crop-season matching, irrigation scheduling and margin protection.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017520"/>
            <a:ext cx="87782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136391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23282D"/>
                </a:solidFill>
              </a:defRPr>
            </a:pPr>
            <a:r>
              <a:t>Agri-Lenders &amp; Crop Insurers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08960"/>
            <a:ext cx="553212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Credit-risk assessment and calibration of seasonal insurance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343400"/>
            <a:ext cx="877824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4462272"/>
            <a:ext cx="28346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23282D"/>
                </a:solidFill>
              </a:defRPr>
            </a:pPr>
            <a:r>
              <a:t>Policy Makers &amp; Extension Centers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434840"/>
            <a:ext cx="5532120" cy="56692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Evidence-based irrigation subsidies and regional input allocation.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191E"/>
                </a:solidFill>
              </a:defRPr>
            </a:pPr>
            <a:r>
              <a:t>Technology Used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1508760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600" b="1">
                <a:solidFill>
                  <a:srgbClr val="23282D"/>
                </a:solidFill>
              </a:defRPr>
            </a:pPr>
            <a:r>
              <a:t>Python 3.11</a:t>
            </a:r>
            <a:br/>
            <a:r>
              <a:t>Core analytical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1508760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600" b="1">
                <a:solidFill>
                  <a:srgbClr val="23282D"/>
                </a:solidFill>
              </a:defRPr>
            </a:pPr>
            <a:r>
              <a:t>Jupyter / Colab</a:t>
            </a:r>
            <a:br/>
            <a:r>
              <a:t>Reproducible notebook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2743200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600" b="1">
                <a:solidFill>
                  <a:srgbClr val="23282D"/>
                </a:solidFill>
              </a:defRPr>
            </a:pPr>
            <a:r>
              <a:t>Pandas &amp; NumPy</a:t>
            </a:r>
            <a:br/>
            <a:r>
              <a:t>Cleaning and 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743200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600" b="1">
                <a:solidFill>
                  <a:srgbClr val="23282D"/>
                </a:solidFill>
              </a:defRPr>
            </a:pPr>
            <a:r>
              <a:t>Matplotlib &amp; Seaborn</a:t>
            </a:r>
            <a:br/>
            <a:r>
              <a:t>Statistical visualization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977639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r>
              <a:t>SciPy (stats)</a:t>
            </a:r>
            <a:br/>
            <a:r>
              <a:t>ANOVA, Chi-Square, Pearson correlation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49240"/>
            <a:ext cx="57607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0">
                <a:solidFill>
                  <a:srgbClr val="23282D"/>
                </a:solidFill>
              </a:defRPr>
            </a:pPr>
            <a:r>
              <a:t>Version control: GitHub repository for dataset, notebook and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700" b="1"/>
            </a:pPr>
            <a:r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777240" y="1417320"/>
            <a:ext cx="38404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000" b="1">
                <a:solidFill>
                  <a:srgbClr val="23282D"/>
                </a:solidFill>
              </a:defRPr>
            </a:pPr>
            <a:r>
              <a:t>Seasonal Agro-Climatic Profiling</a:t>
            </a:r>
          </a:p>
        </p:txBody>
      </p:sp>
      <p:pic>
        <p:nvPicPr>
          <p:cNvPr id="32" name="Picture 31" descr="climate_rain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4023360" cy="2119000"/>
          </a:xfrm>
          <a:prstGeom prst="rect">
            <a:avLst/>
          </a:prstGeom>
        </p:spPr>
      </p:pic>
      <p:pic>
        <p:nvPicPr>
          <p:cNvPr id="33" name="Picture 32" descr="climate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28800"/>
            <a:ext cx="4023360" cy="212140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960120" y="4617720"/>
            <a:ext cx="7498079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300" b="0">
                <a:solidFill>
                  <a:srgbClr val="23282D"/>
                </a:solidFill>
              </a:defRPr>
            </a:pPr>
            <a:r>
              <a:t>Kharif: 850–1150 mm rainfall, 27.5°C, 82.4% humidity, 38.2% soil moisture.</a:t>
            </a:r>
            <a:br/>
            <a:r>
              <a:t>Rabi: 120–280 mm rainfall, 19.8°C. Zaid: 40–110 mm rainfall, 34.2°C and the lowest soil moisture (18.1%).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700" b="1"/>
            </a:pPr>
            <a:r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761682" y="1073237"/>
            <a:ext cx="4114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000" b="1">
                <a:solidFill>
                  <a:srgbClr val="23282D"/>
                </a:solidFill>
              </a:defRPr>
            </a:pPr>
            <a:r>
              <a:rPr dirty="0"/>
              <a:t>Irrigation Efficiency Benchmarking</a:t>
            </a:r>
          </a:p>
        </p:txBody>
      </p:sp>
      <p:pic>
        <p:nvPicPr>
          <p:cNvPr id="32" name="Picture 31" descr="irrigation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2004226"/>
            <a:ext cx="5074920" cy="2443131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897880" y="1874519"/>
            <a:ext cx="324612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2000" b="1">
                <a:solidFill>
                  <a:srgbClr val="23282D"/>
                </a:solidFill>
              </a:defRPr>
            </a:pPr>
            <a:r>
              <a:t>Drip</a:t>
            </a:r>
            <a:br/>
            <a:r>
              <a:t>1.50 t / 1k m³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3063240"/>
            <a:ext cx="324612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2000" b="1">
                <a:solidFill>
                  <a:srgbClr val="23282D"/>
                </a:solidFill>
              </a:defRPr>
            </a:pPr>
            <a:r>
              <a:t>Sprinkler</a:t>
            </a:r>
            <a:br/>
            <a:r>
              <a:t>1.12 t / 1k m³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4251960"/>
            <a:ext cx="324612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600" b="1">
                <a:solidFill>
                  <a:srgbClr val="23282D"/>
                </a:solidFill>
              </a:defRPr>
            </a:pPr>
            <a:r>
              <a:t>Flood: 0.73</a:t>
            </a:r>
            <a:br/>
            <a:r>
              <a:t>Rainfed: 0.55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5029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1">
                <a:solidFill>
                  <a:srgbClr val="23282D"/>
                </a:solidFill>
              </a:defRPr>
            </a:pPr>
            <a:r>
              <a:rPr dirty="0"/>
              <a:t>Drip is 2.05× more efficient than flood irrigation overall.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700" b="1"/>
            </a:pPr>
            <a:r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731520" y="1137393"/>
            <a:ext cx="4114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000" b="1">
                <a:solidFill>
                  <a:srgbClr val="23282D"/>
                </a:solidFill>
              </a:defRPr>
            </a:pPr>
            <a:r>
              <a:rPr dirty="0"/>
              <a:t>Statistical Hypothesis Testing</a:t>
            </a:r>
          </a:p>
        </p:txBody>
      </p:sp>
      <p:pic>
        <p:nvPicPr>
          <p:cNvPr id="32" name="Picture 31" descr="statistical_te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5029200" cy="2457666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897880" y="1783080"/>
            <a:ext cx="33832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600" b="1">
                <a:solidFill>
                  <a:srgbClr val="23282D"/>
                </a:solidFill>
              </a:defRPr>
            </a:pPr>
            <a:r>
              <a:t>Yield ANOVA</a:t>
            </a:r>
            <a:br/>
            <a:r>
              <a:t>F = 48.621</a:t>
            </a:r>
            <a:br/>
            <a:r>
              <a:t>p &lt; 0.00001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97880" y="2971800"/>
            <a:ext cx="33832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600" b="1">
                <a:solidFill>
                  <a:srgbClr val="23282D"/>
                </a:solidFill>
              </a:defRPr>
            </a:pPr>
            <a:r>
              <a:t>Profit ANOVA</a:t>
            </a:r>
            <a:br/>
            <a:r>
              <a:t>F = 31.409</a:t>
            </a:r>
            <a:br/>
            <a:r>
              <a:t>p &lt; 0.00001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4160520"/>
            <a:ext cx="338328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Loss Risk χ²</a:t>
            </a:r>
            <a:br/>
            <a:r>
              <a:t>24.814, dof = 2</a:t>
            </a:r>
            <a:br/>
            <a:r>
              <a:t>p = 0.00004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57800"/>
            <a:ext cx="5029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300" b="1">
                <a:solidFill>
                  <a:srgbClr val="23282D"/>
                </a:solidFill>
              </a:defRPr>
            </a:pPr>
            <a:r>
              <a:t>All three tests reject H₀ at α = 0.05; season is significantly associated with yield, profit and loss risk.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700" b="1"/>
            </a:pPr>
            <a:r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760511" y="1275371"/>
            <a:ext cx="48463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000" b="1">
                <a:solidFill>
                  <a:srgbClr val="23282D"/>
                </a:solidFill>
              </a:defRPr>
            </a:pPr>
            <a:r>
              <a:rPr dirty="0"/>
              <a:t>Crop Performance &amp; Profitability</a:t>
            </a:r>
          </a:p>
        </p:txBody>
      </p:sp>
      <p:pic>
        <p:nvPicPr>
          <p:cNvPr id="32" name="Picture 31" descr="crop_y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5212080" cy="25867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126480" y="1783080"/>
            <a:ext cx="29718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Wheat (Rabi)</a:t>
            </a:r>
            <a:br/>
            <a:r>
              <a:t>4.85 t/ha | +34.2%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2880360"/>
            <a:ext cx="29718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Mustard (Rabi)</a:t>
            </a:r>
            <a:br/>
            <a:r>
              <a:t>3.20 t/ha | +38.6%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3977639"/>
            <a:ext cx="29718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500" b="1">
                <a:solidFill>
                  <a:srgbClr val="23282D"/>
                </a:solidFill>
              </a:defRPr>
            </a:pPr>
            <a:r>
              <a:t>Rice (Kharif)</a:t>
            </a:r>
            <a:br/>
            <a:r>
              <a:t>4.10 t/ha | +24.8%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074920"/>
            <a:ext cx="2971800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300" b="1">
                <a:solidFill>
                  <a:srgbClr val="23282D"/>
                </a:solidFill>
              </a:defRPr>
            </a:pPr>
            <a:r>
              <a:t>Coarse cereals (Zaid): −4.2% margin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pPr>
              <a:defRPr sz="2700" b="1"/>
            </a:pPr>
            <a:r>
              <a:t>RESULTS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887333" y="1475906"/>
            <a:ext cx="41148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2000" b="1">
                <a:solidFill>
                  <a:srgbClr val="23282D"/>
                </a:solidFill>
              </a:defRPr>
            </a:pPr>
            <a:r>
              <a:t>Key Risk &amp; Decision Insights</a:t>
            </a:r>
          </a:p>
        </p:txBody>
      </p:sp>
      <p:pic>
        <p:nvPicPr>
          <p:cNvPr id="32" name="Picture 31" descr="loss_concen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3657600" cy="319578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4709160" y="1783080"/>
            <a:ext cx="4389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600" b="1">
                <a:solidFill>
                  <a:srgbClr val="23282D"/>
                </a:solidFill>
              </a:defRPr>
            </a:pPr>
            <a:r>
              <a:t>71% of severe loss-making farms (Profit &lt; 0) occurred during Zaid.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2971800"/>
            <a:ext cx="4389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Punjab &amp; Haryana show resilient Rabi profitability linked to irrigation infrastructure.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09160" y="4160520"/>
            <a:ext cx="43891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Maharashtra &amp; Karnataka show higher Kharif cash-crop profit volatility.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257800"/>
            <a:ext cx="804672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400" b="1">
                <a:solidFill>
                  <a:srgbClr val="23282D"/>
                </a:solidFill>
              </a:defRPr>
            </a:pPr>
            <a:r>
              <a:t>Decision implication: prioritize seasonal crop fit, efficient irrigation and targeted risk support.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191E"/>
                </a:solidFill>
              </a:defRPr>
            </a:pPr>
            <a: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Rounded Rectangle 23"/>
          <p:cNvSpPr/>
          <p:nvPr/>
        </p:nvSpPr>
        <p:spPr>
          <a:xfrm>
            <a:off x="914400" y="1600200"/>
            <a:ext cx="86868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1709928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23282D"/>
                </a:solidFill>
              </a:defRPr>
            </a:pPr>
            <a:r>
              <a:t>Predictive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1673352"/>
            <a:ext cx="580644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XGBoost and Random Forest models for seasonal yield and profit forecasting.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834640"/>
            <a:ext cx="86868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43000" y="2944368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23282D"/>
                </a:solidFill>
              </a:defRPr>
            </a:pPr>
            <a:r>
              <a:t>Satellite &amp; Drone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907792"/>
            <a:ext cx="580644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Sentinel-2 NDVI and evapotranspiration indicators for crop-stress monitoring.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069080"/>
            <a:ext cx="868680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l">
              <a:defRPr sz="1500" b="1">
                <a:solidFill>
                  <a:srgbClr val="23282D"/>
                </a:solidFill>
              </a:defRPr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178808"/>
            <a:ext cx="2286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700" b="1">
                <a:solidFill>
                  <a:srgbClr val="23282D"/>
                </a:solidFill>
              </a:defRPr>
            </a:pPr>
            <a:r>
              <a:t>IoT Edge Sensors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142232"/>
            <a:ext cx="580644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defRPr sz="1400" b="0">
                <a:solidFill>
                  <a:srgbClr val="23282D"/>
                </a:solidFill>
              </a:defRPr>
            </a:pPr>
            <a:r>
              <a:t>LoRaWAN soil-moisture probes to support precision irrigation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191E"/>
                </a:solidFill>
              </a:defRPr>
            </a:pPr>
            <a:r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1097280" y="1828800"/>
            <a:ext cx="80467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2000" b="1">
                <a:solidFill>
                  <a:srgbClr val="23282D"/>
                </a:solidFill>
              </a:defRPr>
            </a:pPr>
            <a:r>
              <a:t>Project 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606040"/>
            <a:ext cx="841248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600" b="1">
                <a:solidFill>
                  <a:srgbClr val="23282D"/>
                </a:solidFill>
              </a:defRPr>
            </a:pPr>
            <a:r>
              <a:rPr dirty="0">
                <a:hlinkClick r:id="rId3"/>
              </a:rPr>
              <a:t>https://github.com/jaydeeppopat19/Seasonal-Agriculture-Performance_Analysis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3703320"/>
            <a:ext cx="621792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ctr"/>
          <a:lstStyle/>
          <a:p>
            <a:pPr algn="ctr">
              <a:defRPr sz="1600" b="1">
                <a:solidFill>
                  <a:srgbClr val="23282D"/>
                </a:solidFill>
              </a:defRPr>
            </a:pPr>
            <a:r>
              <a:t>Repository contains:</a:t>
            </a:r>
            <a:br/>
            <a:r>
              <a:t>CSV dataset • Jupyter Notebook • Final presentation • README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/>
          </a:bodyPr>
          <a:lstStyle/>
          <a:p>
            <a:pPr>
              <a:defRPr sz="2700" b="1">
                <a:solidFill>
                  <a:srgbClr val="14191E"/>
                </a:solidFill>
              </a:defRPr>
            </a:pPr>
            <a:r>
              <a:t>VOIS Course Completion Certificate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4" name="Picture 23" descr="certific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453" y="1070329"/>
            <a:ext cx="7955279" cy="559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/>
          </a:bodyPr>
          <a:lstStyle/>
          <a:p>
            <a:pPr algn="ctr">
              <a:defRPr sz="3400" b="1"/>
            </a:pPr>
            <a:r>
              <a:t>Thank you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200400" y="2743200"/>
            <a:ext cx="4754880" cy="5486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800" b="1">
                <a:solidFill>
                  <a:srgbClr val="23282D"/>
                </a:solidFill>
              </a:defRPr>
            </a:pPr>
            <a:r>
              <a:t>Seasonal Agriculture Performance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3337560"/>
            <a:ext cx="47548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500" b="0">
                <a:solidFill>
                  <a:srgbClr val="23282D"/>
                </a:solidFill>
              </a:defRPr>
            </a:pPr>
            <a:r>
              <a:t>Jaydeep Popat |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567</TotalTime>
  <Words>609</Words>
  <Application>Microsoft Office PowerPoint</Application>
  <PresentationFormat>Widescreen</PresentationFormat>
  <Paragraphs>69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STATEMENT</vt:lpstr>
      <vt:lpstr>Project Description</vt:lpstr>
      <vt:lpstr>WHO ARE THE END USERS?</vt:lpstr>
      <vt:lpstr>Technology Used</vt:lpstr>
      <vt:lpstr>RESULTS</vt:lpstr>
      <vt:lpstr>RESULTS</vt:lpstr>
      <vt:lpstr>RESULTS</vt:lpstr>
      <vt:lpstr>RESULTS</vt:lpstr>
      <vt:lpstr>RESULTS</vt:lpstr>
      <vt:lpstr>Future Scope</vt:lpstr>
      <vt:lpstr>GitHub Link</vt:lpstr>
      <vt:lpstr>VOIS Course Completion Certificate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jaydeep popat</cp:lastModifiedBy>
  <cp:revision>98</cp:revision>
  <dcterms:created xsi:type="dcterms:W3CDTF">2021-07-11T13:13:15Z</dcterms:created>
  <dcterms:modified xsi:type="dcterms:W3CDTF">2026-09-15T10:57:58Z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
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9"/>
  </p:notesMasterIdLst>
  <p:handoutMasterIdLst>
    <p:handoutMasterId r:id="rId20"/>
  </p:handoutMasterIdLst>
  <p:sldIdLst>
    <p:sldId id="338" r:id="rId5"/>
    <p:sldId id="327" r:id="rId6"/>
    <p:sldId id="347" r:id="rId7"/>
    <p:sldId id="315" r:id="rId8"/>
    <p:sldId id="329" r:id="rId9"/>
    <p:sldId id="302" r:id="rId10"/>
    <p:sldId id="339" r:id="rId11"/>
    <p:sldId id="340" r:id="rId12"/>
    <p:sldId id="344" r:id="rId13"/>
    <p:sldId id="345" r:id="rId14"/>
    <p:sldId id="346" r:id="rId15"/>
    <p:sldId id="341" r:id="rId16"/>
    <p:sldId id="342" r:id="rId17"/>
    <p:sldId id="343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EB51AD-0957-499C-AABA-C17803E5C4DA}" v="25" dt="2026-09-15T08:53:45.216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624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ydeep popat" userId="95d803ed7b19547b" providerId="LiveId" clId="{3FD78D14-27AF-4308-A71F-1EBD272F9239}"/>
    <pc:docChg chg="undo custSel modSld">
      <pc:chgData name="jaydeep popat" userId="95d803ed7b19547b" providerId="LiveId" clId="{3FD78D14-27AF-4308-A71F-1EBD272F9239}" dt="2026-09-15T08:53:52.052" v="55" actId="20577"/>
      <pc:docMkLst>
        <pc:docMk/>
      </pc:docMkLst>
      <pc:sldChg chg="addSp delSp modSp mod addAnim delAnim modAnim">
        <pc:chgData name="jaydeep popat" userId="95d803ed7b19547b" providerId="LiveId" clId="{3FD78D14-27AF-4308-A71F-1EBD272F9239}" dt="2026-09-15T08:53:52.052" v="55" actId="20577"/>
        <pc:sldMkLst>
          <pc:docMk/>
          <pc:sldMk cId="3863610428" sldId="342"/>
        </pc:sldMkLst>
        <pc:spChg chg="mod">
          <ac:chgData name="jaydeep popat" userId="95d803ed7b19547b" providerId="LiveId" clId="{3FD78D14-27AF-4308-A71F-1EBD272F9239}" dt="2026-09-15T08:51:16.008" v="53" actId="255"/>
          <ac:spMkLst>
            <pc:docMk/>
            <pc:sldMk cId="3863610428" sldId="342"/>
            <ac:spMk id="2" creationId="{E22B663D-7998-9ED0-02BA-6458C896D7D5}"/>
          </ac:spMkLst>
        </pc:spChg>
        <pc:spChg chg="add mod">
          <ac:chgData name="jaydeep popat" userId="95d803ed7b19547b" providerId="LiveId" clId="{3FD78D14-27AF-4308-A71F-1EBD272F9239}" dt="2026-09-15T08:53:52.052" v="55" actId="20577"/>
          <ac:spMkLst>
            <pc:docMk/>
            <pc:sldMk cId="3863610428" sldId="342"/>
            <ac:spMk id="3" creationId="{0A32C2A4-79F1-0EAA-4F75-CFB6E41453FA}"/>
          </ac:spMkLst>
        </pc:spChg>
        <pc:spChg chg="add del mod">
          <ac:chgData name="jaydeep popat" userId="95d803ed7b19547b" providerId="LiveId" clId="{3FD78D14-27AF-4308-A71F-1EBD272F9239}" dt="2026-09-15T08:41:31.660" v="40" actId="21"/>
          <ac:spMkLst>
            <pc:docMk/>
            <pc:sldMk cId="3863610428" sldId="342"/>
            <ac:spMk id="4" creationId="{901A2257-2F98-CB88-038E-C0F1D0A1A363}"/>
          </ac:spMkLst>
        </pc:spChg>
        <pc:spChg chg="del">
          <ac:chgData name="jaydeep popat" userId="95d803ed7b19547b" providerId="LiveId" clId="{3FD78D14-27AF-4308-A71F-1EBD272F9239}" dt="2026-09-15T08:41:22.332" v="37" actId="21"/>
          <ac:spMkLst>
            <pc:docMk/>
            <pc:sldMk cId="3863610428" sldId="342"/>
            <ac:spMk id="7" creationId="{AF1C8809-654A-4DD1-BB18-87B8B6C020B9}"/>
          </ac:spMkLst>
        </pc:spChg>
        <pc:spChg chg="add del mod">
          <ac:chgData name="jaydeep popat" userId="95d803ed7b19547b" providerId="LiveId" clId="{3FD78D14-27AF-4308-A71F-1EBD272F9239}" dt="2026-09-15T08:41:10.874" v="34"/>
          <ac:spMkLst>
            <pc:docMk/>
            <pc:sldMk cId="3863610428" sldId="342"/>
            <ac:spMk id="10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9/15/2026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9/15/2026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690" r:id="rId20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aydeeppopat19/Seasonal-Agriculture-Performance_Analysis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0577" y="3655498"/>
            <a:ext cx="4356925" cy="86149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b="0" dirty="0">
                <a:solidFill>
                  <a:schemeClr val="tx1"/>
                </a:solidFill>
                <a:latin typeface="Aptos"/>
              </a:rPr>
              <a:t>      Name : JAYDEEP POPAT</a:t>
            </a:r>
          </a:p>
          <a:p>
            <a:pPr algn="r"/>
            <a:r>
              <a:rPr lang="en-US" sz="1800" b="0" dirty="0">
                <a:solidFill>
                  <a:schemeClr val="tx1"/>
                </a:solidFill>
                <a:latin typeface="Aptos"/>
              </a:rPr>
              <a:t>College : V.V.P. ENGINEERING COLLEGE</a:t>
            </a:r>
            <a:endParaRPr lang="en-IN" sz="1800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004" y="2659829"/>
            <a:ext cx="4998720" cy="743448"/>
          </a:xfrm>
        </p:spPr>
        <p:txBody>
          <a:bodyPr>
            <a:normAutofit fontScale="90000"/>
          </a:bodyPr>
          <a:lstStyle/>
          <a:p>
            <a:r>
              <a:rPr lang="en-GB" sz="3200" b="1" dirty="0">
                <a:latin typeface="Aptos"/>
              </a:rPr>
              <a:t>Seasonal Agriculture Performance Analysis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589004" y="4647551"/>
            <a:ext cx="62431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dirty="0">
                <a:latin typeface="Aptos"/>
              </a:rPr>
              <a:t>AICTE STU ID:</a:t>
            </a:r>
            <a:r>
              <a:rPr lang="en-US" sz="1600" dirty="0">
                <a:latin typeface="Aptos"/>
              </a:rPr>
              <a:t>STU6a6645024b1081785087234</a:t>
            </a:r>
            <a:endParaRPr lang="en-US" sz="1600" b="0" dirty="0">
              <a:latin typeface="Apto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49B3C09-FD81-8378-DFC9-FFBC59829C75}"/>
              </a:ext>
            </a:extLst>
          </p:cNvPr>
          <p:cNvSpPr txBox="1"/>
          <p:nvPr/>
        </p:nvSpPr>
        <p:spPr>
          <a:xfrm>
            <a:off x="3778898" y="311642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38" name="Rectangle 37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5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54602" y="955051"/>
            <a:ext cx="6431280" cy="3607987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IN" sz="1600" b="0" dirty="0">
                <a:latin typeface="Aptos" panose="020B0004020202020204" pitchFamily="34" charset="0"/>
              </a:rPr>
              <a:t>Indian agriculture is governed by three distinct seasonal cycles: Kharif (Monsoon), Rabi (Winter), and Zaid (Summer). Despite abundant farm-level metrics, agricultural decisions remain predominantly intuitive rather than data-driven.
Primary Challenges:
• Lack of seasonal parity in water efficiency, crop viability &amp; profit margins across Indian agro-climatic zones.
• Climate Volatility: Unseasonal rainfall anomalies and heat spikes trigger catastrophic yield deviations.
• Resource Misallocation: Sub-optimal irrigation choices lead to severe groundwater depletion without proportional yield gains.</a:t>
            </a:r>
          </a:p>
          <a:p>
            <a:pPr>
              <a:lnSpc>
                <a:spcPct val="150000"/>
              </a:lnSpc>
            </a:pPr>
            <a:endParaRPr lang="en-IN" sz="1600" dirty="0">
              <a:latin typeface="Aptos" panose="020B00040202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IN" sz="1600" b="0" dirty="0">
                <a:latin typeface="Aptos" panose="020B0004020202020204" pitchFamily="34" charset="0"/>
              </a:rPr>
              <a:t>
</a:t>
            </a:r>
          </a:p>
          <a:p>
            <a:pPr>
              <a:lnSpc>
                <a:spcPct val="150000"/>
              </a:lnSpc>
            </a:pPr>
            <a:endParaRPr lang="en-IN" sz="1600" dirty="0">
              <a:latin typeface="Aptos" panose="020B0004020202020204" pitchFamily="34" charset="0"/>
            </a:endParaRPr>
          </a:p>
          <a:p>
            <a:pPr>
              <a:lnSpc>
                <a:spcPct val="150000"/>
              </a:lnSpc>
            </a:pPr>
            <a:endParaRPr lang="en-IN" sz="1600" b="0" dirty="0">
              <a:latin typeface="Aptos" panose="020B00040202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IN" sz="1600" b="0" dirty="0">
              <a:latin typeface="Aptos" panose="020B000402020202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Aptos"/>
              </a:rPr>
              <a:t>PROBLEM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5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6446520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6464"/>
                </a:solidFill>
                <a:latin typeface="Aptos"/>
              </a:defRPr>
            </a:pPr>
            <a:r>
              <a:t>Seasonal Agriculture Performance Analysis  |  2</a:t>
            </a:r>
          </a:p>
        </p:txBody>
      </p:sp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E42D592-73CA-F564-16E8-FF069B93BB0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0015" y="578209"/>
            <a:ext cx="5757653" cy="4675278"/>
          </a:xfrm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2600" dirty="0">
                <a:latin typeface="Aptos" panose="020B0004020202020204" pitchFamily="34" charset="0"/>
              </a:rPr>
              <a:t>• Asymmetric Risk: Extreme loss-making farms are clustered in specific seasonal intervals without targeted safety nets.</a:t>
            </a:r>
          </a:p>
          <a:p>
            <a:pPr>
              <a:lnSpc>
                <a:spcPct val="150000"/>
              </a:lnSpc>
            </a:pPr>
            <a:endParaRPr lang="en-IN" sz="2600" dirty="0"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lang="en-IN" sz="2900" dirty="0">
                <a:latin typeface="Aptos" panose="020B0004020202020204" pitchFamily="34" charset="0"/>
              </a:rPr>
              <a:t>Research Objectives:
• Quantify variance in yields, costs, and profits across seasons.
• Benchmark irrigation efficiency across </a:t>
            </a:r>
            <a:r>
              <a:rPr lang="en-IN" sz="2900" dirty="0" err="1">
                <a:latin typeface="Aptos" panose="020B0004020202020204" pitchFamily="34" charset="0"/>
              </a:rPr>
              <a:t>agro</a:t>
            </a:r>
            <a:r>
              <a:rPr lang="en-IN" sz="2900" dirty="0">
                <a:latin typeface="Aptos" panose="020B0004020202020204" pitchFamily="34" charset="0"/>
              </a:rPr>
              <a:t>-seasons.
• Validate hypotheses via ANOVA and Chi-Square statistical tests.
• Provide evidence-backed recommendations for seasonal crop planning</a:t>
            </a:r>
            <a:r>
              <a:rPr lang="en-IN" sz="2100" dirty="0">
                <a:latin typeface="Aptos" panose="020B0004020202020204" pitchFamily="34" charset="0"/>
              </a:rPr>
              <a:t>.</a:t>
            </a:r>
            <a:endParaRPr lang="en-IN" sz="21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B2B1373-8FE5-AFFF-D375-613DA217E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32852" y="805213"/>
            <a:ext cx="854015" cy="830997"/>
          </a:xfrm>
        </p:spPr>
        <p:txBody>
          <a:bodyPr>
            <a:normAutofit/>
          </a:bodyPr>
          <a:lstStyle/>
          <a:p>
            <a:endParaRPr lang="en-IN" sz="100" b="0" dirty="0"/>
          </a:p>
        </p:txBody>
      </p:sp>
    </p:spTree>
    <p:extLst>
      <p:ext uri="{BB962C8B-B14F-4D97-AF65-F5344CB8AC3E}">
        <p14:creationId xmlns:p14="http://schemas.microsoft.com/office/powerpoint/2010/main" val="13689039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295" y="805213"/>
            <a:ext cx="7646840" cy="1170236"/>
          </a:xfrm>
        </p:spPr>
        <p:txBody>
          <a:bodyPr>
            <a:normAutofit fontScale="90000"/>
          </a:bodyPr>
          <a:lstStyle/>
          <a:p>
            <a:r>
              <a:rPr lang="en-GB" sz="1800" b="0" dirty="0">
                <a:latin typeface="Aptos"/>
              </a:rPr>
              <a:t>Project Architecture &amp; Pipeline</a:t>
            </a:r>
            <a:br>
              <a:rPr lang="en-GB" sz="1800" dirty="0"/>
            </a:br>
            <a:r>
              <a:rPr lang="en-GB" sz="1800" b="0" dirty="0">
                <a:latin typeface="Aptos"/>
              </a:rPr>
              <a:t>This project deploys rigorous statistical testing and multivariate visualization to analyze Indian seasonal agriculture across Kharif, Rabi, and Zaid cycles.
</a:t>
            </a:r>
            <a:br>
              <a:rPr lang="en-GB" sz="1800" b="0" dirty="0">
                <a:latin typeface="Aptos"/>
              </a:rPr>
            </a:br>
            <a:br>
              <a:rPr lang="en-GB" sz="1600" b="0" dirty="0">
                <a:latin typeface="Aptos"/>
              </a:rPr>
            </a:br>
            <a:r>
              <a:rPr lang="en-GB" sz="1600" b="0" dirty="0">
                <a:latin typeface="Aptos"/>
              </a:rPr>
              <a:t>
</a:t>
            </a:r>
            <a:r>
              <a:rPr lang="en-GB" sz="1800" b="0" dirty="0">
                <a:latin typeface="Aptos"/>
              </a:rPr>
              <a:t>1. Ingestion &amp; Hygiene: Season-aware median imputation for missing rainfall, soil moisture, and yield metrics. Zero duplicates detected.
2. Feature Engineering: Constructed critical agronomic indices — Profit_Margin_%, Cost_per_Tonne, Is_Profitable (Boolean), Water_Efficiency.
3. Multi-Tier EDA: Multivariate exploration across rainfall, temperature, humidity, and soil pH versus farm financial realizations. Heatmaps &amp; Boxplots.
4. Inferential Stats: Rigorous hypothesis validation — One-Way ANOVA (Yield &amp; Profit), Chi-Square Contingency, Pearson Correlation (r).
Methodological Note: Outliers were preserved as valid agricultural risk signals (crop failures, market crashes) rather than discarded as erroneous noise. </a:t>
            </a:r>
            <a:br>
              <a:rPr lang="en-GB" sz="1800" dirty="0"/>
            </a:br>
            <a:endParaRPr lang="en-IN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5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876617"/>
            <a:ext cx="10208878" cy="802641"/>
          </a:xfrm>
        </p:spPr>
        <p:txBody>
          <a:bodyPr>
            <a:normAutofit fontScale="90000"/>
          </a:bodyPr>
          <a:lstStyle/>
          <a:p>
            <a:r>
              <a:rPr lang="en-US" sz="2800" b="1" dirty="0">
                <a:latin typeface="Aptos"/>
              </a:rPr>
              <a:t>TARGET END USERS</a:t>
            </a:r>
            <a:br>
              <a:rPr lang="en-US" sz="2800" b="1" dirty="0">
                <a:latin typeface="Aptos"/>
              </a:rPr>
            </a:b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  <p:sp>
        <p:nvSpPr>
          <p:cNvPr id="100" name="ContentBox"/>
          <p:cNvSpPr txBox="1"/>
          <p:nvPr/>
        </p:nvSpPr>
        <p:spPr>
          <a:xfrm>
            <a:off x="457200" y="1200000"/>
            <a:ext cx="8600000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600" b="0" dirty="0">
              <a:latin typeface="Aptos"/>
            </a:endParaRPr>
          </a:p>
          <a:p>
            <a:r>
              <a:rPr lang="en-US" sz="1600" b="0" dirty="0">
                <a:latin typeface="Aptos"/>
              </a:rPr>
              <a:t>Actionable seasonal agricultural intelligence serves diverse stakeholders:</a:t>
            </a:r>
            <a:endParaRPr lang="en-US" dirty="0"/>
          </a:p>
          <a:p>
            <a:pPr algn="ctr"/>
            <a:endParaRPr lang="en-US" dirty="0"/>
          </a:p>
          <a:p>
            <a:r>
              <a:rPr lang="en-US" sz="1600" b="0" dirty="0">
                <a:latin typeface="Aptos"/>
              </a:rPr>
              <a:t>1. Progressive Farmers &amp; FPOs</a:t>
            </a:r>
            <a:endParaRPr lang="en-US" dirty="0"/>
          </a:p>
          <a:p>
            <a:r>
              <a:rPr lang="en-US" sz="1600" b="0" dirty="0">
                <a:latin typeface="Aptos"/>
              </a:rPr>
              <a:t>Optimizes crop-season matching, fertilizer dosing, and irrigation scheduling to protect margins.</a:t>
            </a:r>
            <a:endParaRPr lang="en-US" dirty="0"/>
          </a:p>
          <a:p>
            <a:endParaRPr lang="en-US" dirty="0">
              <a:latin typeface="Aptos" panose="020B0004020202020204" pitchFamily="34" charset="0"/>
            </a:endParaRPr>
          </a:p>
          <a:p>
            <a:r>
              <a:rPr lang="en-US" sz="1600" b="0" dirty="0">
                <a:latin typeface="Aptos"/>
              </a:rPr>
              <a:t>2. Agri-Lenders &amp; Crop Insurers</a:t>
            </a:r>
            <a:endParaRPr lang="en-US" dirty="0"/>
          </a:p>
          <a:p>
            <a:r>
              <a:rPr lang="en-US" sz="1600" b="0" dirty="0">
                <a:latin typeface="Aptos"/>
              </a:rPr>
              <a:t>Informs credit risk scoring and calibrates parametric insurance premiums for high-loss seasons.</a:t>
            </a:r>
            <a:endParaRPr lang="en-US" dirty="0"/>
          </a:p>
          <a:p>
            <a:endParaRPr lang="en-US" dirty="0"/>
          </a:p>
          <a:p>
            <a:r>
              <a:rPr lang="en-US" sz="1600" b="0" dirty="0">
                <a:latin typeface="Aptos"/>
              </a:rPr>
              <a:t>3. Policy Makers &amp; Extension Centers</a:t>
            </a:r>
            <a:endParaRPr lang="en-US" dirty="0"/>
          </a:p>
          <a:p>
            <a:r>
              <a:rPr lang="en-US" sz="1600" b="0" dirty="0">
                <a:latin typeface="Aptos"/>
              </a:rPr>
              <a:t>Directs micro-irrigation subsidies and regional input allocations with statistical precision.</a:t>
            </a:r>
            <a:endParaRPr lang="en-US" dirty="0"/>
          </a:p>
        </p:txBody>
      </p:sp>
      <p:sp>
        <p:nvSpPr>
          <p:cNvPr id="101" name="Rectangle 10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5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30567"/>
            <a:ext cx="5509491" cy="847817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Aptos"/>
              </a:rPr>
              <a:t>Technology Used</a:t>
            </a:r>
          </a:p>
        </p:txBody>
      </p:sp>
      <p:sp>
        <p:nvSpPr>
          <p:cNvPr id="101" name="TechBox"/>
          <p:cNvSpPr txBox="1"/>
          <p:nvPr/>
        </p:nvSpPr>
        <p:spPr>
          <a:xfrm>
            <a:off x="457200" y="1200000"/>
            <a:ext cx="8600000" cy="48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dirty="0">
                <a:latin typeface="Aptos"/>
              </a:rPr>
              <a:t>Core Analytical Environment:</a:t>
            </a:r>
            <a:endParaRPr lang="en-US" dirty="0"/>
          </a:p>
          <a:p>
            <a:r>
              <a:rPr lang="en-US" sz="1600" b="0" dirty="0">
                <a:latin typeface="Aptos"/>
              </a:rPr>
              <a:t>• Python 3.11 Kernel — Core programming runtime for vectorized operations and analytical modeling.</a:t>
            </a:r>
            <a:endParaRPr lang="en-US" dirty="0"/>
          </a:p>
          <a:p>
            <a:r>
              <a:rPr lang="en-US" sz="1600" b="0" dirty="0">
                <a:latin typeface="Aptos"/>
              </a:rPr>
              <a:t>• Jupyter Notebook — Structured reproducible workflow with modular execution cells.</a:t>
            </a:r>
            <a:endParaRPr lang="en-US" dirty="0"/>
          </a:p>
          <a:p>
            <a:r>
              <a:rPr lang="en-US" sz="1600" b="0" dirty="0">
                <a:latin typeface="Aptos"/>
              </a:rPr>
              <a:t>• Pandas &amp; NumPy — Groupby aggregations, season-aware median transformations, and feature engineering.</a:t>
            </a:r>
            <a:endParaRPr lang="en-US" dirty="0"/>
          </a:p>
          <a:p>
            <a:r>
              <a:rPr lang="en-US" sz="1600" b="0" dirty="0">
                <a:latin typeface="Aptos"/>
              </a:rPr>
              <a:t>• Matplotlib &amp; Seaborn — Production-grade statistical charting (heatmaps, boxplots, regression trendlines).</a:t>
            </a:r>
            <a:endParaRPr lang="en-US" dirty="0"/>
          </a:p>
          <a:p>
            <a:r>
              <a:rPr lang="en-US" sz="1600" b="0" dirty="0">
                <a:latin typeface="Aptos"/>
              </a:rPr>
              <a:t>• SciPy (stats module) — Hypothesis testing: One-way ANOVA, Chi-Square contingency, Pearson correlation.</a:t>
            </a:r>
            <a:endParaRPr lang="en-US" dirty="0"/>
          </a:p>
          <a:p>
            <a:endParaRPr lang="en-US" dirty="0"/>
          </a:p>
          <a:p>
            <a:r>
              <a:rPr lang="en-US" sz="1600" b="0" dirty="0">
                <a:latin typeface="Aptos"/>
              </a:rPr>
              <a:t>Engineering &amp; Visualization Standards:</a:t>
            </a:r>
            <a:endParaRPr lang="en-US" dirty="0"/>
          </a:p>
          <a:p>
            <a:r>
              <a:rPr lang="en-US" sz="1600" b="0" dirty="0">
                <a:latin typeface="Aptos"/>
              </a:rPr>
              <a:t>• Palette &amp; Styling: Seaborn Set2 &amp; whitegrid theme with custom accessible color maps (YlGnBu, Greens, RdYlGn).</a:t>
            </a:r>
            <a:endParaRPr lang="en-US" dirty="0"/>
          </a:p>
          <a:p>
            <a:r>
              <a:rPr lang="en-US" sz="1600" b="0" dirty="0">
                <a:latin typeface="Aptos"/>
              </a:rPr>
              <a:t>• Mathematical Rigor: Parametric assumptions verified with degrees of freedom (dof) and p-value thresholds (α = 0.05).</a:t>
            </a:r>
            <a:endParaRPr lang="en-US" dirty="0"/>
          </a:p>
          <a:p>
            <a:r>
              <a:rPr lang="en-US" sz="1600" b="0" dirty="0">
                <a:latin typeface="Aptos"/>
              </a:rPr>
              <a:t>• Version Control: Git versioning with clean repository architecture and explicit requirements specification.</a:t>
            </a:r>
            <a:endParaRPr lang="en-US" dirty="0"/>
          </a:p>
        </p:txBody>
      </p:sp>
      <p:sp>
        <p:nvSpPr>
          <p:cNvPr id="102" name="Rectangle 10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5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370589"/>
            <a:ext cx="4871337" cy="830997"/>
          </a:xfrm>
        </p:spPr>
        <p:txBody>
          <a:bodyPr>
            <a:normAutofit fontScale="90000"/>
          </a:bodyPr>
          <a:lstStyle/>
          <a:p>
            <a:r>
              <a:rPr lang="en-GB" sz="2800" b="1" dirty="0">
                <a:latin typeface="Aptos"/>
              </a:rPr>
              <a:t>Results: Seasonal Agro-Climatic Profiling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06" name="ContentBox306"/>
          <p:cNvSpPr txBox="1"/>
          <p:nvPr/>
        </p:nvSpPr>
        <p:spPr>
          <a:xfrm>
            <a:off x="431320" y="1351592"/>
            <a:ext cx="8229600" cy="45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dirty="0">
                <a:latin typeface="Aptos"/>
              </a:rPr>
              <a:t>The dataset exhibits authentic Indian seasonal characteristics, validating data fidelity before modeling:</a:t>
            </a:r>
            <a:endParaRPr lang="en-US" dirty="0"/>
          </a:p>
          <a:p>
            <a:endParaRPr lang="en-US" dirty="0"/>
          </a:p>
          <a:p>
            <a:r>
              <a:rPr lang="en-US" sz="1600" b="0" dirty="0">
                <a:latin typeface="Aptos"/>
              </a:rPr>
              <a:t>Climatic Profiles:</a:t>
            </a:r>
            <a:endParaRPr lang="en-US" dirty="0"/>
          </a:p>
          <a:p>
            <a:r>
              <a:rPr lang="en-US" sz="1600" b="0" dirty="0">
                <a:latin typeface="Aptos"/>
              </a:rPr>
              <a:t>Kharif (Monsoon): Rainfall 850-1150 mm  |  Temp 27.5 deg C  |  Humidity 82.4%  |  Soil Moisture 38.2%</a:t>
            </a:r>
            <a:endParaRPr lang="en-US" dirty="0"/>
          </a:p>
          <a:p>
            <a:r>
              <a:rPr lang="en-US" sz="1600" b="0" dirty="0">
                <a:latin typeface="Aptos"/>
              </a:rPr>
              <a:t>Rabi (Winter): Rainfall 120-280 mm  |  Temp 19.8 deg C  |  Humidity 56.1%  |  Soil Moisture 26.4%</a:t>
            </a:r>
            <a:endParaRPr lang="en-US" dirty="0"/>
          </a:p>
          <a:p>
            <a:r>
              <a:rPr lang="en-US" sz="1600" b="0" dirty="0">
                <a:latin typeface="Aptos"/>
              </a:rPr>
              <a:t>Zaid (Summer): Rainfall 40-110 mm  |  Temp 34.2 deg C  |  Humidity 39.5%  |  Soil Moisture 18.1%</a:t>
            </a:r>
            <a:endParaRPr lang="en-US" dirty="0"/>
          </a:p>
          <a:p>
            <a:endParaRPr lang="en-US" dirty="0"/>
          </a:p>
          <a:p>
            <a:r>
              <a:rPr lang="en-US" sz="1600" b="0" dirty="0">
                <a:latin typeface="Aptos"/>
              </a:rPr>
              <a:t>Climatic Sanity Check:</a:t>
            </a:r>
            <a:endParaRPr lang="en-US" dirty="0"/>
          </a:p>
          <a:p>
            <a:r>
              <a:rPr lang="en-US" sz="1600" b="0" dirty="0">
                <a:latin typeface="Aptos"/>
              </a:rPr>
              <a:t>Kharif records highest rainfall and humidity, whereas Zaid exhibits extreme thermal stress, validating realistic agro-ecological behavior across all three seasons.</a:t>
            </a:r>
            <a:endParaRPr lang="en-US" dirty="0"/>
          </a:p>
        </p:txBody>
      </p:sp>
      <p:sp>
        <p:nvSpPr>
          <p:cNvPr id="307" name="Rectangle 306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5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92501"/>
            <a:ext cx="4508518" cy="830997"/>
          </a:xfrm>
        </p:spPr>
        <p:txBody>
          <a:bodyPr>
            <a:normAutofit fontScale="90000"/>
          </a:bodyPr>
          <a:lstStyle/>
          <a:p>
            <a:r>
              <a:rPr lang="en-GB" sz="2800" b="1" dirty="0">
                <a:latin typeface="Aptos"/>
              </a:rPr>
              <a:t>Results: Irrigation Efficiency Benchmarking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07" name="ContentBox307"/>
          <p:cNvSpPr txBox="1"/>
          <p:nvPr/>
        </p:nvSpPr>
        <p:spPr>
          <a:xfrm>
            <a:off x="457200" y="1550000"/>
            <a:ext cx="8229600" cy="45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dirty="0">
                <a:latin typeface="Aptos"/>
              </a:rPr>
              <a:t>Water Efficiency Matrix (Tonnes per 1000 m3):</a:t>
            </a:r>
            <a:endParaRPr lang="en-US" dirty="0"/>
          </a:p>
          <a:p>
            <a:endParaRPr lang="en-US" dirty="0"/>
          </a:p>
          <a:p>
            <a:r>
              <a:rPr lang="en-US" sz="1600" b="0" dirty="0">
                <a:latin typeface="Aptos"/>
              </a:rPr>
              <a:t>Drip Irrigation:  Kharif 1.42  |  Rabi 1.78  |  Zaid 1.31  |  Overall Mean: 1.50 t/1k m3</a:t>
            </a:r>
            <a:endParaRPr lang="en-US" dirty="0"/>
          </a:p>
          <a:p>
            <a:r>
              <a:rPr lang="en-US" sz="1600" b="0" dirty="0">
                <a:latin typeface="Aptos"/>
              </a:rPr>
              <a:t>Sprinkler:  Kharif 1.08  |  Rabi 1.34  |  Zaid 0.94  |  Overall Mean: 1.12 t/1k m3</a:t>
            </a:r>
            <a:endParaRPr lang="en-US" dirty="0"/>
          </a:p>
          <a:p>
            <a:r>
              <a:rPr lang="en-US" sz="1600" b="0" dirty="0">
                <a:latin typeface="Aptos"/>
              </a:rPr>
              <a:t>Flood/Surface:  Kharif 0.72  |  Rabi 0.89  |  Zaid 0.58  |  Overall Mean: 0.73 t/1k m3</a:t>
            </a:r>
            <a:endParaRPr lang="en-US" dirty="0"/>
          </a:p>
          <a:p>
            <a:r>
              <a:rPr lang="en-US" sz="1600" b="0" dirty="0">
                <a:latin typeface="Aptos"/>
              </a:rPr>
              <a:t>Rainfed (Unirrigated):  Kharif 0.85  |  Rabi 0.48  |  Zaid 0.31  |  Overall Mean: 0.55 t/1k m3</a:t>
            </a:r>
            <a:endParaRPr lang="en-US" dirty="0"/>
          </a:p>
          <a:p>
            <a:endParaRPr lang="en-US" dirty="0"/>
          </a:p>
          <a:p>
            <a:r>
              <a:rPr lang="en-US" sz="1600" b="0" dirty="0">
                <a:latin typeface="Aptos"/>
              </a:rPr>
              <a:t>Key Insights:</a:t>
            </a:r>
            <a:endParaRPr lang="en-US" dirty="0"/>
          </a:p>
          <a:p>
            <a:r>
              <a:rPr lang="en-US" sz="1600" b="0" dirty="0">
                <a:latin typeface="Aptos"/>
              </a:rPr>
              <a:t>Drip Dominance: Drip delivers 2.05x higher efficiency than traditional flood irrigation across all seasons.</a:t>
            </a:r>
            <a:endParaRPr lang="en-US" dirty="0"/>
          </a:p>
          <a:p>
            <a:r>
              <a:rPr lang="en-US" sz="1600" b="0" dirty="0">
                <a:latin typeface="Aptos"/>
              </a:rPr>
              <a:t>Summer Vulnerability: Zaid season flood irrigation loses more than 60% of water volume to surface evaporation.</a:t>
            </a:r>
            <a:endParaRPr lang="en-US" dirty="0"/>
          </a:p>
        </p:txBody>
      </p:sp>
      <p:sp>
        <p:nvSpPr>
          <p:cNvPr id="308" name="Rectangle 307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5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0589"/>
            <a:ext cx="5460521" cy="830997"/>
          </a:xfrm>
        </p:spPr>
        <p:txBody>
          <a:bodyPr>
            <a:normAutofit fontScale="90000"/>
          </a:bodyPr>
          <a:lstStyle/>
          <a:p>
            <a:r>
              <a:rPr lang="en-GB" sz="2800" b="1" dirty="0">
                <a:latin typeface="Aptos"/>
              </a:rPr>
              <a:t>Results: Statistical Hypothesis Testing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08" name="ContentBox308"/>
          <p:cNvSpPr txBox="1"/>
          <p:nvPr/>
        </p:nvSpPr>
        <p:spPr>
          <a:xfrm>
            <a:off x="457200" y="1550000"/>
            <a:ext cx="8229600" cy="45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dirty="0">
                <a:latin typeface="Aptos"/>
              </a:rPr>
              <a:t>Three hypotheses tested using parametric and non-parametric </a:t>
            </a:r>
          </a:p>
          <a:p>
            <a:r>
              <a:rPr lang="en-US" sz="1600" b="0" dirty="0">
                <a:latin typeface="Aptos"/>
              </a:rPr>
              <a:t>methods:</a:t>
            </a:r>
            <a:endParaRPr lang="en-US" dirty="0"/>
          </a:p>
          <a:p>
            <a:endParaRPr lang="en-US" dirty="0"/>
          </a:p>
          <a:p>
            <a:r>
              <a:rPr lang="en-US" sz="1600" b="0" dirty="0">
                <a:latin typeface="Aptos"/>
              </a:rPr>
              <a:t>1.  ANOVA: Seasonal Yield</a:t>
            </a:r>
            <a:endParaRPr lang="en-US" dirty="0"/>
          </a:p>
          <a:p>
            <a:r>
              <a:rPr lang="en-US" sz="1600" b="0" dirty="0">
                <a:latin typeface="Aptos"/>
              </a:rPr>
              <a:t>H0: Mean crop yield is invariant across Kharif, Rabi, and Zaid seasons.</a:t>
            </a:r>
            <a:endParaRPr lang="en-US" dirty="0"/>
          </a:p>
          <a:p>
            <a:r>
              <a:rPr lang="en-US" sz="1600" b="0" dirty="0">
                <a:latin typeface="Aptos"/>
              </a:rPr>
              <a:t>F-Statistic: 48.621  |  p-value: &lt;0.00001  --&gt;  Reject H0 (Significant)</a:t>
            </a:r>
            <a:endParaRPr lang="en-US" dirty="0"/>
          </a:p>
          <a:p>
            <a:r>
              <a:rPr lang="en-US" sz="1600" b="0" dirty="0">
                <a:solidFill>
                  <a:srgbClr val="1F7A1F"/>
                </a:solidFill>
                <a:latin typeface="Aptos"/>
              </a:rPr>
              <a:t>Season is an absolute, statistically robust driver of physical output.</a:t>
            </a:r>
            <a:endParaRPr lang="en-US" dirty="0"/>
          </a:p>
          <a:p>
            <a:endParaRPr lang="en-US" dirty="0"/>
          </a:p>
          <a:p>
            <a:r>
              <a:rPr lang="en-US" sz="1600" b="0" dirty="0">
                <a:latin typeface="Aptos"/>
              </a:rPr>
              <a:t>2.  ANOVA: Farm Profit</a:t>
            </a:r>
            <a:endParaRPr lang="en-US" dirty="0"/>
          </a:p>
          <a:p>
            <a:r>
              <a:rPr lang="en-US" sz="1600" b="0" dirty="0">
                <a:latin typeface="Aptos"/>
              </a:rPr>
              <a:t>H0: Farm net profit (INR) demonstrates equal variance across seasons.</a:t>
            </a:r>
            <a:endParaRPr lang="en-US" dirty="0"/>
          </a:p>
          <a:p>
            <a:r>
              <a:rPr lang="en-US" sz="1600" b="0" dirty="0">
                <a:latin typeface="Aptos"/>
              </a:rPr>
              <a:t>F-Statistic: 31.409  |  p-value: &lt;0.00001  --&gt;  Reject H0 (Significant)</a:t>
            </a:r>
            <a:endParaRPr lang="en-US" dirty="0"/>
          </a:p>
          <a:p>
            <a:r>
              <a:rPr lang="en-US" sz="1600" b="0" dirty="0">
                <a:solidFill>
                  <a:srgbClr val="1F7A1F"/>
                </a:solidFill>
                <a:latin typeface="Aptos"/>
              </a:rPr>
              <a:t>Profit margins vary meaningfully, driven by seasonal market realizations.</a:t>
            </a:r>
            <a:endParaRPr lang="en-US" dirty="0"/>
          </a:p>
          <a:p>
            <a:endParaRPr lang="en-US" dirty="0"/>
          </a:p>
          <a:p>
            <a:r>
              <a:rPr lang="en-US" sz="1600" b="0" dirty="0">
                <a:latin typeface="Aptos"/>
              </a:rPr>
              <a:t>3.  Chi-Square: Loss Risk</a:t>
            </a:r>
            <a:endParaRPr lang="en-US" dirty="0"/>
          </a:p>
          <a:p>
            <a:r>
              <a:rPr lang="en-US" sz="1600" b="0" dirty="0">
                <a:latin typeface="Aptos"/>
              </a:rPr>
              <a:t>H0: Farm profitability state (Profit vs Loss) is independent of season.</a:t>
            </a:r>
            <a:endParaRPr lang="en-US" dirty="0"/>
          </a:p>
          <a:p>
            <a:r>
              <a:rPr lang="en-US" sz="1600" b="0" dirty="0">
                <a:latin typeface="Aptos"/>
              </a:rPr>
              <a:t>Chi-sq: 24.814  |  dof = 2  |  p-value: 0.00004  --&gt;  Reject H0 (Associated)</a:t>
            </a:r>
            <a:endParaRPr lang="en-US" dirty="0"/>
          </a:p>
          <a:p>
            <a:r>
              <a:rPr lang="en-US" sz="1600" b="0" dirty="0">
                <a:solidFill>
                  <a:srgbClr val="1F7A1F"/>
                </a:solidFill>
                <a:latin typeface="Aptos"/>
              </a:rPr>
              <a:t>Loss probability is concentrated disproportionately in high-stress Zaid season.</a:t>
            </a:r>
            <a:endParaRPr lang="en-US" dirty="0"/>
          </a:p>
        </p:txBody>
      </p:sp>
      <p:sp>
        <p:nvSpPr>
          <p:cNvPr id="309" name="Rectangle 308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5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370589"/>
            <a:ext cx="4957601" cy="830997"/>
          </a:xfrm>
        </p:spPr>
        <p:txBody>
          <a:bodyPr>
            <a:normAutofit fontScale="90000"/>
          </a:bodyPr>
          <a:lstStyle/>
          <a:p>
            <a:r>
              <a:rPr lang="en-GB" sz="2800" b="1" dirty="0">
                <a:latin typeface="Aptos"/>
              </a:rPr>
              <a:t>Results: Crop Performance &amp; Regional Profitability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5A36120-3EFF-6A69-8D23-42BFD883ADD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09" name="ContentBox309"/>
          <p:cNvSpPr txBox="1"/>
          <p:nvPr/>
        </p:nvSpPr>
        <p:spPr>
          <a:xfrm>
            <a:off x="457200" y="1550000"/>
            <a:ext cx="8229600" cy="45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dirty="0">
                <a:latin typeface="Aptos"/>
              </a:rPr>
              <a:t>Optimal Crop-Season Fit (Yield &amp; Profitability):</a:t>
            </a:r>
            <a:endParaRPr lang="en-US" dirty="0"/>
          </a:p>
          <a:p>
            <a:r>
              <a:rPr lang="en-US" sz="1600" b="0" dirty="0">
                <a:latin typeface="Aptos"/>
              </a:rPr>
              <a:t>Wheat (Rabi): Avg Yield 4.85 t/ha  |  Profit Margin +34.2%</a:t>
            </a:r>
            <a:endParaRPr lang="en-US" dirty="0"/>
          </a:p>
          <a:p>
            <a:r>
              <a:rPr lang="en-US" sz="1600" b="0" dirty="0">
                <a:latin typeface="Aptos"/>
              </a:rPr>
              <a:t>Mustard/Oilseeds (Rabi): Avg Yield 3.20 t/ha  |  Profit Margin +38.6%</a:t>
            </a:r>
            <a:endParaRPr lang="en-US" dirty="0"/>
          </a:p>
          <a:p>
            <a:r>
              <a:rPr lang="en-US" sz="1600" b="0" dirty="0">
                <a:latin typeface="Aptos"/>
              </a:rPr>
              <a:t>Rice/Paddy (Kharif): Avg Yield 4.10 t/ha  |  Profit Margin +24.8%</a:t>
            </a:r>
            <a:endParaRPr lang="en-US" dirty="0"/>
          </a:p>
          <a:p>
            <a:r>
              <a:rPr lang="en-US" sz="1600" b="0" dirty="0">
                <a:latin typeface="Aptos"/>
              </a:rPr>
              <a:t>Cotton (Kharif): Avg Yield 2.95 t/ha  |  Profit Margin +18.5%</a:t>
            </a:r>
            <a:endParaRPr lang="en-US" dirty="0"/>
          </a:p>
          <a:p>
            <a:r>
              <a:rPr lang="en-US" sz="1600" b="0" dirty="0">
                <a:latin typeface="Aptos"/>
              </a:rPr>
              <a:t>Watermelon/Pulses (Zaid): Avg Yield 3.45 t/ha  |  Profit Margin +28.1%</a:t>
            </a:r>
            <a:endParaRPr lang="en-US" dirty="0"/>
          </a:p>
          <a:p>
            <a:r>
              <a:rPr lang="en-US" sz="1600" b="0" dirty="0">
                <a:latin typeface="Aptos"/>
              </a:rPr>
              <a:t>Coarse Cereals (Zaid): Avg Yield 1.85 t/ha  |  Profit Margin -4.2% (Loss)</a:t>
            </a:r>
            <a:endParaRPr lang="en-US" dirty="0"/>
          </a:p>
          <a:p>
            <a:endParaRPr lang="en-US" dirty="0"/>
          </a:p>
          <a:p>
            <a:r>
              <a:rPr lang="en-US" sz="1600" b="0" dirty="0">
                <a:latin typeface="Aptos"/>
              </a:rPr>
              <a:t>Key Regional Observations:</a:t>
            </a:r>
            <a:endParaRPr lang="en-US" dirty="0"/>
          </a:p>
          <a:p>
            <a:r>
              <a:rPr lang="en-US" sz="1600" b="0" dirty="0">
                <a:latin typeface="Aptos"/>
              </a:rPr>
              <a:t>Punjab &amp; Haryana: Resilient Rabi profitability from canal and tubewell infrastructure, decoupling yield from precipitation variability.</a:t>
            </a:r>
            <a:endParaRPr lang="en-US" dirty="0"/>
          </a:p>
          <a:p>
            <a:r>
              <a:rPr lang="en-US" sz="1600" b="0" dirty="0">
                <a:latin typeface="Aptos"/>
              </a:rPr>
              <a:t>Maharashtra &amp; Karnataka: High profit volatility in Kharif cash crops (cotton, pulses) from monsoon onset delays and pest vulnerability.</a:t>
            </a:r>
            <a:endParaRPr lang="en-US" dirty="0"/>
          </a:p>
          <a:p>
            <a:r>
              <a:rPr lang="en-US" sz="1600" b="0" dirty="0">
                <a:latin typeface="Aptos"/>
              </a:rPr>
              <a:t>Outlier Analysis: 71% of severe loss-making farms (Profit &lt;0) occurred during Zaid when input costs exceeded revenues.</a:t>
            </a:r>
            <a:endParaRPr lang="en-US" dirty="0"/>
          </a:p>
        </p:txBody>
      </p:sp>
      <p:sp>
        <p:nvSpPr>
          <p:cNvPr id="310" name="Rectangle 309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5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370589"/>
            <a:ext cx="5837495" cy="830997"/>
          </a:xfrm>
        </p:spPr>
        <p:txBody>
          <a:bodyPr>
            <a:normAutofit fontScale="90000"/>
          </a:bodyPr>
          <a:lstStyle/>
          <a:p>
            <a:r>
              <a:rPr lang="en-GB" sz="2800" b="1" dirty="0">
                <a:latin typeface="Aptos"/>
              </a:rPr>
              <a:t>Strategic &amp; Policy Recommendations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A2A9BCE-A757-223C-2A3D-44341FB27A6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EED58A7-2CD5-1355-8D1D-DD62A1ED8C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10" name="ContentBox310"/>
          <p:cNvSpPr txBox="1"/>
          <p:nvPr/>
        </p:nvSpPr>
        <p:spPr>
          <a:xfrm>
            <a:off x="502920" y="1179000"/>
            <a:ext cx="8229600" cy="45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dirty="0">
                <a:latin typeface="Aptos"/>
              </a:rPr>
              <a:t>1.  Dynamic Crop Planning</a:t>
            </a:r>
            <a:endParaRPr lang="en-US" dirty="0"/>
          </a:p>
          <a:p>
            <a:r>
              <a:rPr lang="en-US" sz="1600" b="0" dirty="0">
                <a:latin typeface="Aptos"/>
              </a:rPr>
              <a:t>Restrict water-intensive crops during Zaid; prioritize high-value horticulture and short-duration legumes. Target: +18% farmer net earnings.</a:t>
            </a:r>
            <a:endParaRPr lang="en-US" dirty="0"/>
          </a:p>
          <a:p>
            <a:endParaRPr lang="en-US" dirty="0"/>
          </a:p>
          <a:p>
            <a:r>
              <a:rPr lang="en-US" sz="1600" b="0" dirty="0">
                <a:latin typeface="Aptos"/>
              </a:rPr>
              <a:t>2.  Subsidized Micro-Irrigation</a:t>
            </a:r>
            <a:endParaRPr lang="en-US" dirty="0"/>
          </a:p>
          <a:p>
            <a:r>
              <a:rPr lang="en-US" sz="1600" b="0" dirty="0">
                <a:latin typeface="Aptos"/>
              </a:rPr>
              <a:t>Expand Drip &amp; Sprinkler adoption. Drip achieves 1.50 t/1k m3 efficiency, saving 45% farm water. Target: 40% reduction in water depletion.</a:t>
            </a:r>
            <a:endParaRPr lang="en-US" dirty="0"/>
          </a:p>
          <a:p>
            <a:endParaRPr lang="en-US" dirty="0"/>
          </a:p>
          <a:p>
            <a:r>
              <a:rPr lang="en-US" sz="1600" b="0" dirty="0">
                <a:latin typeface="Aptos"/>
              </a:rPr>
              <a:t>3.  Calibrated Insurance &amp; Support</a:t>
            </a:r>
            <a:endParaRPr lang="en-US" dirty="0"/>
          </a:p>
          <a:p>
            <a:r>
              <a:rPr lang="en-US" sz="1600" b="0" dirty="0">
                <a:latin typeface="Aptos"/>
              </a:rPr>
              <a:t>Deploy parametric insurance for Zaid heatwaves and Kharif dry spells. Target: 65% reduction in farm distress.</a:t>
            </a:r>
            <a:endParaRPr lang="en-US" dirty="0"/>
          </a:p>
          <a:p>
            <a:endParaRPr lang="en-US" dirty="0"/>
          </a:p>
          <a:p>
            <a:r>
              <a:rPr lang="en-US" sz="1600" b="0" dirty="0">
                <a:latin typeface="Aptos"/>
              </a:rPr>
              <a:t>4.  Precision Soil &amp; Input Dosing</a:t>
            </a:r>
            <a:endParaRPr lang="en-US" dirty="0"/>
          </a:p>
          <a:p>
            <a:r>
              <a:rPr lang="en-US" sz="1600" b="0" dirty="0">
                <a:latin typeface="Aptos"/>
              </a:rPr>
              <a:t>Match nitrogen/potassium dosing with real-time soil moisture to cut cost-per-tonne by 15-22%.</a:t>
            </a:r>
            <a:endParaRPr lang="en-US" dirty="0"/>
          </a:p>
          <a:p>
            <a:endParaRPr lang="en-US" dirty="0"/>
          </a:p>
          <a:p>
            <a:r>
              <a:rPr lang="en-US" sz="1600" b="0" dirty="0">
                <a:latin typeface="Aptos"/>
              </a:rPr>
              <a:t>5.  Interstate Best-Practice Transfer</a:t>
            </a:r>
            <a:endParaRPr lang="en-US" dirty="0"/>
          </a:p>
          <a:p>
            <a:r>
              <a:rPr lang="en-US" sz="1600" b="0" dirty="0">
                <a:latin typeface="Aptos"/>
              </a:rPr>
              <a:t>Model canal-management infrastructure from Punjab to replicate stability in rain-dependent dryland regions.</a:t>
            </a:r>
            <a:endParaRPr lang="en-US" dirty="0"/>
          </a:p>
        </p:txBody>
      </p:sp>
      <p:sp>
        <p:nvSpPr>
          <p:cNvPr id="311" name="Rectangle 31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5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0589"/>
            <a:ext cx="4954555" cy="830997"/>
          </a:xfrm>
        </p:spPr>
        <p:txBody>
          <a:bodyPr>
            <a:normAutofit/>
          </a:bodyPr>
          <a:lstStyle/>
          <a:p>
            <a:r>
              <a:rPr lang="en-IN" sz="2800" b="1" dirty="0">
                <a:latin typeface="Aptos"/>
              </a:rPr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2" name="FutureBox"/>
          <p:cNvSpPr txBox="1"/>
          <p:nvPr/>
        </p:nvSpPr>
        <p:spPr>
          <a:xfrm>
            <a:off x="457200" y="1200000"/>
            <a:ext cx="8600000" cy="48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dirty="0">
                <a:latin typeface="Aptos"/>
              </a:rPr>
              <a:t>The baseline exploratory and statistical architecture established in this project lays the ground for scalable agritech deployments:</a:t>
            </a:r>
            <a:endParaRPr lang="en-US" dirty="0"/>
          </a:p>
          <a:p>
            <a:endParaRPr lang="en-US" dirty="0"/>
          </a:p>
          <a:p>
            <a:r>
              <a:rPr lang="en-US" sz="1600" b="0" dirty="0">
                <a:latin typeface="Aptos"/>
              </a:rPr>
              <a:t>1. Predictive ML Yield &amp; Profit Forecasting</a:t>
            </a:r>
            <a:endParaRPr lang="en-US" dirty="0"/>
          </a:p>
          <a:p>
            <a:r>
              <a:rPr lang="en-US" sz="1600" b="0" dirty="0">
                <a:latin typeface="Aptos"/>
              </a:rPr>
              <a:t>Develop XGBoost and Random Forest regressors to forecast seasonal yields with confidence intervals using pre-sowing climate and soil telemetry data.</a:t>
            </a:r>
            <a:endParaRPr lang="en-US" dirty="0"/>
          </a:p>
          <a:p>
            <a:endParaRPr lang="en-US" dirty="0"/>
          </a:p>
          <a:p>
            <a:r>
              <a:rPr lang="en-US" sz="1600" b="0" dirty="0">
                <a:latin typeface="Aptos"/>
              </a:rPr>
              <a:t>2. Satellite &amp; Drone Remote Sensing</a:t>
            </a:r>
            <a:endParaRPr lang="en-US" dirty="0"/>
          </a:p>
          <a:p>
            <a:r>
              <a:rPr lang="en-US" sz="1600" b="0" dirty="0">
                <a:latin typeface="Aptos"/>
              </a:rPr>
              <a:t>Incorporate multispectral Sentinel-2 NDVI imagery for real-time monitoring of canopy vigor and evapotranspiration stress during transition seasons.</a:t>
            </a:r>
            <a:endParaRPr lang="en-US" dirty="0"/>
          </a:p>
          <a:p>
            <a:endParaRPr lang="en-US" dirty="0"/>
          </a:p>
          <a:p>
            <a:r>
              <a:rPr lang="en-US" sz="1600" b="0" dirty="0">
                <a:latin typeface="Aptos"/>
              </a:rPr>
              <a:t>3. IoT Edge Sensor Mesh</a:t>
            </a:r>
            <a:endParaRPr lang="en-US" dirty="0"/>
          </a:p>
          <a:p>
            <a:r>
              <a:rPr lang="en-US" sz="1600" b="0" dirty="0">
                <a:latin typeface="Aptos"/>
              </a:rPr>
              <a:t>Integrate low-cost LoRaWAN soil moisture probes to trigger automated precision drip valves based on real-time root-zone deficits.</a:t>
            </a:r>
            <a:endParaRPr lang="en-US" dirty="0"/>
          </a:p>
        </p:txBody>
      </p:sp>
      <p:sp>
        <p:nvSpPr>
          <p:cNvPr id="103" name="Rectangle 10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5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4" name="Rectangle 10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5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2B663D-7998-9ED0-02BA-6458C896D7D5}"/>
              </a:ext>
            </a:extLst>
          </p:cNvPr>
          <p:cNvSpPr txBox="1"/>
          <p:nvPr/>
        </p:nvSpPr>
        <p:spPr>
          <a:xfrm>
            <a:off x="3247054" y="3629861"/>
            <a:ext cx="4339087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dirty="0">
                <a:latin typeface="Georgia" panose="020405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THANK YOU </a:t>
            </a:r>
            <a:endParaRPr lang="en-IN" sz="2600" dirty="0">
              <a:latin typeface="Georgia" panose="02040502050405020303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32C2A4-79F1-0EAA-4F75-CFB6E41453FA}"/>
              </a:ext>
            </a:extLst>
          </p:cNvPr>
          <p:cNvSpPr txBox="1"/>
          <p:nvPr/>
        </p:nvSpPr>
        <p:spPr>
          <a:xfrm>
            <a:off x="429208" y="503854"/>
            <a:ext cx="918354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Aptos" panose="020B0004020202020204" pitchFamily="34" charset="0"/>
              </a:rPr>
              <a:t>GitHub Link</a:t>
            </a:r>
          </a:p>
          <a:p>
            <a:endParaRPr lang="en-IN" dirty="0">
              <a:latin typeface="Aptos" panose="020B0004020202020204" pitchFamily="34" charset="0"/>
            </a:endParaRPr>
          </a:p>
          <a:p>
            <a:r>
              <a:rPr lang="en-IN" dirty="0">
                <a:latin typeface="Aptos" panose="020B0004020202020204" pitchFamily="34" charset="0"/>
              </a:rPr>
              <a:t>Project Repository:</a:t>
            </a:r>
          </a:p>
          <a:p>
            <a:r>
              <a:rPr lang="en-IN" dirty="0">
                <a:latin typeface="Aptos" panose="020B0004020202020204" pitchFamily="34" charset="0"/>
                <a:ea typeface="Cambria" panose="02040503050406030204" pitchFamily="18" charset="0"/>
                <a:hlinkClick r:id="rId3"/>
              </a:rPr>
              <a:t>https://github.com/jaydeeppopat19/Seasonal-Agriculture-Performance_Analysis</a:t>
            </a:r>
            <a:endParaRPr lang="en-IN" dirty="0">
              <a:latin typeface="Aptos" panose="020B0004020202020204" pitchFamily="34" charset="0"/>
              <a:ea typeface="Cambria" panose="02040503050406030204" pitchFamily="18" charset="0"/>
            </a:endParaRPr>
          </a:p>
          <a:p>
            <a:r>
              <a:rPr lang="en-IN" dirty="0">
                <a:latin typeface="Aptos" panose="020B0004020202020204" pitchFamily="34" charset="0"/>
              </a:rPr>
              <a:t>Student: Jaydeep Popat</a:t>
            </a:r>
          </a:p>
          <a:p>
            <a:r>
              <a:rPr lang="en-IN" dirty="0">
                <a:latin typeface="Aptos" panose="020B0004020202020204" pitchFamily="34" charset="0"/>
              </a:rPr>
              <a:t>AICTE Student ID: STU6a6645024b1081785087234</a:t>
            </a:r>
          </a:p>
          <a:p>
            <a:r>
              <a:rPr lang="en-IN" dirty="0">
                <a:latin typeface="Aptos" panose="020B0004020202020204" pitchFamily="34" charset="0"/>
              </a:rPr>
              <a:t>Course Track: Data Visualization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9888"/>
            <a:ext cx="8351838" cy="885825"/>
          </a:xfrm>
        </p:spPr>
        <p:txBody>
          <a:bodyPr>
            <a:normAutofit/>
          </a:bodyPr>
          <a:lstStyle/>
          <a:p>
            <a:pPr algn="ctr"/>
            <a:r>
              <a:rPr lang="en-IN" sz="1600" b="0" dirty="0">
                <a:latin typeface="Aptos"/>
              </a:rPr>
              <a:t>VOIS Course Completion Certificate</a:t>
            </a:r>
            <a:br>
              <a:rPr lang="en-IN" sz="3200" dirty="0"/>
            </a:br>
            <a:endParaRPr lang="en-IN" sz="1600" b="0" dirty="0">
              <a:latin typeface="Aptos"/>
            </a:endParaRP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4" name="Rectangle 2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25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FB46F49-7B48-EBBD-48BB-17323D60BE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98552"/>
            <a:ext cx="9658997" cy="6410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610</TotalTime>
  <Words>1437</Words>
  <Application>Microsoft Office PowerPoint</Application>
  <PresentationFormat>Widescreen</PresentationFormat>
  <Paragraphs>126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Aptos</vt:lpstr>
      <vt:lpstr>Arial</vt:lpstr>
      <vt:lpstr>Calibri</vt:lpstr>
      <vt:lpstr>Georgia</vt:lpstr>
      <vt:lpstr>Trebuchet MS</vt:lpstr>
      <vt:lpstr>Wingdings</vt:lpstr>
      <vt:lpstr>Wingdings 3</vt:lpstr>
      <vt:lpstr>Facet</vt:lpstr>
      <vt:lpstr>Seasonal Agriculture Performance Analysis</vt:lpstr>
      <vt:lpstr>PROBLEM STATEMENT</vt:lpstr>
      <vt:lpstr>PowerPoint Presentation</vt:lpstr>
      <vt:lpstr>Project Architecture &amp; Pipeline This project deploys rigorous statistical testing and multivariate visualization to analyze Indian seasonal agriculture across Kharif, Rabi, and Zaid cycles.
1. Ingestion &amp; Hygiene: Season-aware median imputation for missing rainfall, soil moisture, and yield metrics. Zero duplicates detected.
2. Feature Engineering: Constructed critical agronomic indices — Profit_Margin_%, Cost_per_Tonne, Is_Profitable (Boolean), Water_Efficiency.
3. Multi-Tier EDA: Multivariate exploration across rainfall, temperature, humidity, and soil pH versus farm financial realizations. Heatmaps &amp; Boxplots.
4. Inferential Stats: Rigorous hypothesis validation — One-Way ANOVA (Yield &amp; Profit), Chi-Square Contingency, Pearson Correlation (r).
Methodological Note: Outliers were preserved as valid agricultural risk signals (crop failures, market crashes) rather than discarded as erroneous noise.  </vt:lpstr>
      <vt:lpstr>TARGET END USERS </vt:lpstr>
      <vt:lpstr>Technology Used</vt:lpstr>
      <vt:lpstr>Results: Seasonal Agro-Climatic Profiling</vt:lpstr>
      <vt:lpstr>Results: Irrigation Efficiency Benchmarking</vt:lpstr>
      <vt:lpstr>Results: Statistical Hypothesis Testing</vt:lpstr>
      <vt:lpstr>Results: Crop Performance &amp; Regional Profitability</vt:lpstr>
      <vt:lpstr>Strategic &amp; Policy Recommendations</vt:lpstr>
      <vt:lpstr>Future scope</vt:lpstr>
      <vt:lpstr>PowerPoint Presentation</vt:lpstr>
      <vt:lpstr>VOIS Course Completion Certificate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jaydeep popat</cp:lastModifiedBy>
  <cp:revision>98</cp:revision>
  <dcterms:created xsi:type="dcterms:W3CDTF">2021-07-11T13:13:15Z</dcterms:created>
  <dcterms:modified xsi:type="dcterms:W3CDTF">2026-09-15T08:53:54Z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